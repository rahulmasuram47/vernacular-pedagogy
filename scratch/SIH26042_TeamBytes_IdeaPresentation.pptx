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000" y="2050000"/>
            <a:ext cx="63000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Problem Statement ID –</a:t>
            </a:r>
            <a:r>
              <a:rPr sz="1550" b="1">
                <a:solidFill>
                  <a:srgbClr val="1F497D"/>
                </a:solidFill>
                <a:latin typeface="Arial"/>
              </a:rPr>
              <a:t> SIH26042 / 042</a:t>
            </a:r>
            <a:endParaRPr lang="en-US" dirty="0"/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Problem Statement Title –</a:t>
            </a:r>
            <a:r>
              <a:rPr sz="1550" b="0">
                <a:solidFill>
                  <a:srgbClr val="212529"/>
                </a:solidFill>
                <a:latin typeface="Arial"/>
              </a:rPr>
              <a:t> AI-Powered Vernacular Pedagogy and Real-Time Translation Tool for Mother Tongue-Based Primary Education</a:t>
            </a:r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Theme –</a:t>
            </a:r>
            <a:r>
              <a:rPr sz="1550" b="0">
                <a:solidFill>
                  <a:srgbClr val="212529"/>
                </a:solidFill>
                <a:latin typeface="Arial"/>
              </a:rPr>
              <a:t> Education / EdTech</a:t>
            </a:r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PS Category –</a:t>
            </a:r>
            <a:r>
              <a:rPr sz="1550" b="0">
                <a:solidFill>
                  <a:srgbClr val="212529"/>
                </a:solidFill>
                <a:latin typeface="Arial"/>
              </a:rPr>
              <a:t> Software</a:t>
            </a:r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Team ID –</a:t>
            </a:r>
            <a:r>
              <a:rPr sz="1550" b="1">
                <a:solidFill>
                  <a:srgbClr val="C00000"/>
                </a:solidFill>
                <a:latin typeface="Arial"/>
              </a:rPr>
              <a:t> [ENTER YOUR OFFICIAL SIH TEAM ID]</a:t>
            </a:r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1650" b="1">
                <a:solidFill>
                  <a:srgbClr val="1F497D"/>
                </a:solidFill>
                <a:latin typeface="Arial"/>
              </a:rPr>
              <a:t>•  </a:t>
            </a:r>
            <a:r>
              <a:rPr sz="1650" b="1">
                <a:solidFill>
                  <a:srgbClr val="000000"/>
                </a:solidFill>
                <a:latin typeface="Arial"/>
              </a:rPr>
              <a:t>Team Name (Registered on portal) –</a:t>
            </a:r>
            <a:r>
              <a:rPr sz="1550" b="1">
                <a:solidFill>
                  <a:srgbClr val="1F497D"/>
                </a:solidFill>
                <a:latin typeface="Arial"/>
              </a:rPr>
              <a:t> Team Bytes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A252C"/>
                </a:solidFill>
                <a:latin typeface="Times New Roman"/>
              </a:rPr>
              <a:t>IDEA TITLE: VERNACULAR VOICE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0000" y="1300000"/>
            <a:ext cx="113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50" b="1">
                <a:solidFill>
                  <a:srgbClr val="1F497D"/>
                </a:solidFill>
                <a:latin typeface="Arial"/>
              </a:rPr>
              <a:t>❖  </a:t>
            </a:r>
            <a:r>
              <a:rPr sz="1850" b="1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Detailed Explanation of the Proposed Solution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Platform Overview: </a:t>
            </a:r>
            <a:r>
              <a:rPr sz="1200" b="0">
                <a:solidFill>
                  <a:srgbClr val="2D3748"/>
                </a:solidFill>
                <a:latin typeface="Arial"/>
              </a:rPr>
              <a:t>AI-powered mobile/web platform that translates and converts primary-school educational content into tribal and regional mother tongues in real time.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Multimodal Core: </a:t>
            </a:r>
            <a:r>
              <a:rPr sz="1200" b="0">
                <a:solidFill>
                  <a:srgbClr val="2D3748"/>
                </a:solidFill>
                <a:latin typeface="Arial"/>
              </a:rPr>
              <a:t>Combines speech-to-text (STT), text-to-speech (TTS), and neural translation to let teachers and students interact intuitively in their native language.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Workflow: </a:t>
            </a:r>
            <a:r>
              <a:rPr sz="1200" b="0">
                <a:solidFill>
                  <a:srgbClr val="2D3748"/>
                </a:solidFill>
                <a:latin typeface="Arial"/>
              </a:rPr>
              <a:t>Teacher/student inputs content (text or speech) in source language (e.g., English/Hindi); system translates to target mother tongue and synthesizes matching audio.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Offline Caching: </a:t>
            </a:r>
            <a:r>
              <a:rPr sz="1200" b="0">
                <a:solidFill>
                  <a:srgbClr val="2D3748"/>
                </a:solidFill>
                <a:latin typeface="Arial"/>
              </a:rPr>
              <a:t>Generates bilingual learning material (synchronized text + audio) with offline-first local caching so it functions reliably in low-connectivity classrooms.</a:t>
            </a: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How It Addresses the Problem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Curriculum Alignment: </a:t>
            </a:r>
            <a:r>
              <a:rPr sz="1200" b="0">
                <a:solidFill>
                  <a:srgbClr val="2D3748"/>
                </a:solidFill>
                <a:latin typeface="Arial"/>
              </a:rPr>
              <a:t>Removes the language barrier between standardized state curricula and mother-tongue primary learners, advancing NEP 2020 mandates.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Teacher Empowerment: </a:t>
            </a:r>
            <a:r>
              <a:rPr sz="1200" b="0">
                <a:solidFill>
                  <a:srgbClr val="2D3748"/>
                </a:solidFill>
                <a:latin typeface="Arial"/>
              </a:rPr>
              <a:t>Gives teachers an instant, automated tool to localize lessons and worksheets instead of relying on scarce human translators.</a:t>
            </a: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Innovation and Uniqueness of the Solution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Modular Architecture: </a:t>
            </a:r>
            <a:r>
              <a:rPr sz="1200" b="0">
                <a:solidFill>
                  <a:srgbClr val="2D3748"/>
                </a:solidFill>
                <a:latin typeface="Arial"/>
              </a:rPr>
              <a:t>Modular language-plugin architecture allows new tribal and Indian regional languages to be onboarded without rebuilding the core system.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Edge-Optimized AI: </a:t>
            </a:r>
            <a:r>
              <a:rPr sz="1200" b="0">
                <a:solidFill>
                  <a:srgbClr val="2D3748"/>
                </a:solidFill>
                <a:latin typeface="Arial"/>
              </a:rPr>
              <a:t>Quantized offline AI inference engineered specifically for entry-level, budget Android devices, unlike conventional cloud-only EdTech tools.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A252C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0000" y="1250000"/>
            <a:ext cx="11300000" cy="3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04800" indent="-203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Technologies to be Used (Programming Languages, Frameworks, Hardware)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Client Application: </a:t>
            </a:r>
            <a:r>
              <a:rPr sz="1200" b="0">
                <a:solidFill>
                  <a:srgbClr val="2D3748"/>
                </a:solidFill>
                <a:latin typeface="Arial"/>
              </a:rPr>
              <a:t>Flutter / React Native (cross-platform, lightweight client, highly responsive on low-end Android smartphones).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Backend Framework: </a:t>
            </a:r>
            <a:r>
              <a:rPr sz="1200" b="0">
                <a:solidFill>
                  <a:srgbClr val="2D3748"/>
                </a:solidFill>
                <a:latin typeface="Arial"/>
              </a:rPr>
              <a:t>Python (FastAPI microservices) for high-performance API orchestration, model serving, and asynchronous sync.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AI &amp; ML Models: </a:t>
            </a:r>
            <a:r>
              <a:rPr sz="1200" b="0">
                <a:solidFill>
                  <a:srgbClr val="2D3748"/>
                </a:solidFill>
                <a:latin typeface="Arial"/>
              </a:rPr>
              <a:t>IndicTrans2 / fine-tuned multilingual NMT for Indian &amp; tribal languages; Whisper (offline-optimized) / Vosk for STT; Indic-TTS / Coqui TTS for speech synthesis.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Edge Inference &amp; DB: </a:t>
            </a:r>
            <a:r>
              <a:rPr sz="1200" b="0">
                <a:solidFill>
                  <a:srgbClr val="2D3748"/>
                </a:solidFill>
                <a:latin typeface="Arial"/>
              </a:rPr>
              <a:t>TensorFlow Lite &amp; ONNX Runtime for INT8 quantized offline execution; SQLite for local content caching; Firebase / PostgreSQL for optional cloud sync.</a:t>
            </a:r>
          </a:p>
          <a:p>
            <a:pPr marL="304800" indent="-20320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Methodology and Process for Implementation (Flow Charts / Images / Working Prototype)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End-to-End Pipeline: </a:t>
            </a:r>
            <a:r>
              <a:rPr sz="1200" b="0">
                <a:solidFill>
                  <a:srgbClr val="2D3748"/>
                </a:solidFill>
                <a:latin typeface="Arial"/>
              </a:rPr>
              <a:t>Step 1: Input (Text/Voice) → Step 2: STT Conversion → Step 3: NMT Translation to Mother Tongue → Step 4: TTS Native Audio Synthesis → Step 5: Bilingual Delivery (Text+Audio) &amp; SQLite Cache.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methodology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4500000"/>
            <a:ext cx="10800000" cy="17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A252C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0000" y="1250000"/>
            <a:ext cx="11300000" cy="4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04800" marR="0" lvl="0" indent="-203200" algn="just" defTabSz="457200" rtl="0" eaLnBrk="1" fontAlgn="base" latinLnBrk="0" hangingPunct="1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Proven Foundations: </a:t>
            </a:r>
            <a:r>
              <a:rPr sz="1200" b="0">
                <a:solidFill>
                  <a:srgbClr val="2D3748"/>
                </a:solidFill>
                <a:latin typeface="Arial"/>
              </a:rPr>
              <a:t>Built on existing, proven AI/ML and speech technologies (IndicTrans2, Whisper, Indic-TTS) with verified Indian language benchmarks.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Hardware Compatibility: </a:t>
            </a:r>
            <a:r>
              <a:rPr sz="1200" b="0">
                <a:solidFill>
                  <a:srgbClr val="2D3748"/>
                </a:solidFill>
                <a:latin typeface="Arial"/>
              </a:rPr>
              <a:t>Designed specifically for low-end Android smartphones prevalent in rural classrooms, ensuring zero prohibitive hardware barrier.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Modular Scalability: </a:t>
            </a:r>
            <a:r>
              <a:rPr sz="1200" b="0">
                <a:solidFill>
                  <a:srgbClr val="2D3748"/>
                </a:solidFill>
                <a:latin typeface="Arial"/>
              </a:rPr>
              <a:t>Modular architecture allows easy, continuous addition of more Indian and tribal languages without platform refactoring.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Offline Feasibility: </a:t>
            </a:r>
            <a:r>
              <a:rPr sz="1200" b="0">
                <a:solidFill>
                  <a:srgbClr val="2D3748"/>
                </a:solidFill>
                <a:latin typeface="Arial"/>
              </a:rPr>
              <a:t>Offline-capable functionality reduces dependency on continuous internet connectivity and eliminates ongoing data subscription costs.</a:t>
            </a: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Potential Challenges and Risks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Dataset Scarcity: </a:t>
            </a:r>
            <a:r>
              <a:rPr sz="1200" b="0">
                <a:solidFill>
                  <a:srgbClr val="2D3748"/>
                </a:solidFill>
                <a:latin typeface="Arial"/>
              </a:rPr>
              <a:t>Limited parallel datasets and acoustic corpora available for low-resource tribal languages (e.g., Santhali, Mundari, Ho).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Accuracy &amp; Nuance: </a:t>
            </a:r>
            <a:r>
              <a:rPr sz="1200" b="0">
                <a:solidFill>
                  <a:srgbClr val="2D3748"/>
                </a:solidFill>
                <a:latin typeface="Arial"/>
              </a:rPr>
              <a:t>Accuracy of translation and speech recognition for regional dialects, non-standard accents, and phoneme variations.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Latency &amp; Resources: </a:t>
            </a:r>
            <a:r>
              <a:rPr sz="1200" b="0">
                <a:solidFill>
                  <a:srgbClr val="2D3748"/>
                </a:solidFill>
                <a:latin typeface="Arial"/>
              </a:rPr>
              <a:t>Real-time response latency on low-RAM budget devices; reliable operation under severe connectivity constraints.</a:t>
            </a: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Strategies for Overcoming These Challenges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Quantized Edge Runtime: </a:t>
            </a:r>
            <a:r>
              <a:rPr sz="1200" b="0">
                <a:solidFill>
                  <a:srgbClr val="2D3748"/>
                </a:solidFill>
                <a:latin typeface="Arial"/>
              </a:rPr>
              <a:t>Use lightweight and INT8 quantized models optimized for on-device inference via TFLite and ONNX Runtime to ensure sub-second response.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Local Cache &amp; Fallbacks: </a:t>
            </a:r>
            <a:r>
              <a:rPr sz="1200" b="0">
                <a:solidFill>
                  <a:srgbClr val="2D3748"/>
                </a:solidFill>
                <a:latin typeface="Arial"/>
              </a:rPr>
              <a:t>Pre-cache frequently used primary curriculum units and lessons locally, providing instant playback and graceful offline fallbacks.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Continuous Expansion: </a:t>
            </a:r>
            <a:r>
              <a:rPr sz="1200" b="0">
                <a:solidFill>
                  <a:srgbClr val="2D3748"/>
                </a:solidFill>
                <a:latin typeface="Arial"/>
              </a:rPr>
              <a:t>Continuously expand tribal language resources using validated educational datasets and community-in-the-loop teacher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A252C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0000" y="1250000"/>
            <a:ext cx="11300000" cy="4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04800" marR="0" lvl="0" indent="-203200" algn="just" defTabSz="457200" rtl="0" eaLnBrk="1" fontAlgn="base" latinLnBrk="0" hangingPunct="1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Potential Impact on the Target Audience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NEP 2020 Vision: </a:t>
            </a:r>
            <a:r>
              <a:rPr sz="1200" b="0">
                <a:solidFill>
                  <a:srgbClr val="2D3748"/>
                </a:solidFill>
                <a:latin typeface="Arial"/>
              </a:rPr>
              <a:t>Enables mother-tongue-based primary education as envisioned by NEP 2020, eliminating early childhood cognitive exclusion.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Equitable Access: </a:t>
            </a:r>
            <a:r>
              <a:rPr sz="1200" b="0">
                <a:solidFill>
                  <a:srgbClr val="2D3748"/>
                </a:solidFill>
                <a:latin typeface="Arial"/>
              </a:rPr>
              <a:t>Makes educational content fully accessible to tribal-language-speaking children, drastically reducing learning poverty and dropout rates.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Learning Outcomes: </a:t>
            </a:r>
            <a:r>
              <a:rPr sz="1200" b="0">
                <a:solidFill>
                  <a:srgbClr val="2D3748"/>
                </a:solidFill>
                <a:latin typeface="Arial"/>
              </a:rPr>
              <a:t>Bridges comprehension gaps between standardized state textbooks and local spoken dialects, boosting foundational numeracy and literacy.</a:t>
            </a:r>
          </a:p>
          <a:p>
            <a:pPr marL="304800" indent="-20320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Benefits of the Solution (Social, Economic, Environmental, etc.)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Teacher Empowerment: </a:t>
            </a:r>
            <a:r>
              <a:rPr sz="1200" b="0">
                <a:solidFill>
                  <a:srgbClr val="2D3748"/>
                </a:solidFill>
                <a:latin typeface="Arial"/>
              </a:rPr>
              <a:t>Helps teachers create bilingual learning materials instantly, saving hundreds of hours of manual lesson preparation.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Multimodal Inclusivity: </a:t>
            </a:r>
            <a:r>
              <a:rPr sz="1200" b="0">
                <a:solidFill>
                  <a:srgbClr val="2D3748"/>
                </a:solidFill>
                <a:latin typeface="Arial"/>
              </a:rPr>
              <a:t>Supports voice-based learning for young, pre-literate learners, making foundational education engaging, confident, and intuitive.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Classroom Harmony: </a:t>
            </a:r>
            <a:r>
              <a:rPr sz="1200" b="0">
                <a:solidFill>
                  <a:srgbClr val="2D3748"/>
                </a:solidFill>
                <a:latin typeface="Arial"/>
              </a:rPr>
              <a:t>Reduces language barriers between teachers and students, creating an interactive, culturally affirming classroom environment.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High Scalability: </a:t>
            </a:r>
            <a:r>
              <a:rPr sz="1200" b="0">
                <a:solidFill>
                  <a:srgbClr val="2D3748"/>
                </a:solidFill>
                <a:latin typeface="Arial"/>
              </a:rPr>
              <a:t>Scalable to additional Indian regional and tribal languages without expensive physical infrastructure investments.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Zero-Connectivity Reach: </a:t>
            </a:r>
            <a:r>
              <a:rPr sz="1200" b="0">
                <a:solidFill>
                  <a:srgbClr val="2D3748"/>
                </a:solidFill>
                <a:latin typeface="Arial"/>
              </a:rPr>
              <a:t>Offline capability ensures 100% usability and equity in low-connectivity rural and remote tribal schools.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A252C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0000" y="1250000"/>
            <a:ext cx="11300000" cy="4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04800" marR="0" lvl="0" indent="-203200" algn="just" defTabSz="457200" rtl="0" eaLnBrk="1" fontAlgn="base" latinLnBrk="0" hangingPunct="1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sz="1450" b="1">
                <a:solidFill>
                  <a:srgbClr val="1F497D"/>
                </a:solidFill>
                <a:latin typeface="Arial"/>
              </a:rPr>
              <a:t>•  </a:t>
            </a:r>
            <a:r>
              <a:rPr sz="1450" b="1">
                <a:solidFill>
                  <a:srgbClr val="1A365D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Problem Statement: </a:t>
            </a:r>
            <a:r>
              <a:rPr sz="1200" b="0">
                <a:solidFill>
                  <a:srgbClr val="2D3748"/>
                </a:solidFill>
                <a:latin typeface="Arial"/>
              </a:rPr>
              <a:t>Government of Jharkhand — Smart India Hackathon 2026 Problem Statement ID: SIH26042 / 042.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SIH 2026 Portal: </a:t>
            </a:r>
            <a:r>
              <a:rPr sz="1200" b="0">
                <a:solidFill>
                  <a:srgbClr val="2D3748"/>
                </a:solidFill>
                <a:latin typeface="Arial"/>
              </a:rPr>
              <a:t>Official Smart India Hackathon 2026 Portal (https://sih.gov.in) — Guidelines, Submission Template &amp; EdTech Domain Specs.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Neural Translation Model: </a:t>
            </a:r>
            <a:r>
              <a:rPr sz="1200" b="0">
                <a:solidFill>
                  <a:srgbClr val="2D3748"/>
                </a:solidFill>
                <a:latin typeface="Arial"/>
              </a:rPr>
              <a:t>IndicTrans2: Towards High-Quality &amp; Accessible Machine Translation for Indian Languages (AI4Bharat / Gala et al., 2023).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Speech-to-Text Research: </a:t>
            </a:r>
            <a:r>
              <a:rPr sz="1200" b="0">
                <a:solidFill>
                  <a:srgbClr val="2D3748"/>
                </a:solidFill>
                <a:latin typeface="Arial"/>
              </a:rPr>
              <a:t>OpenAI Whisper: Robust Speech Recognition via Large-Scale Weak Supervision (Radford et al.) &amp; AlphaCephei Vosk Offline Embedded Engine.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Text-to-Speech Technology: </a:t>
            </a:r>
            <a:r>
              <a:rPr sz="1200" b="0">
                <a:solidFill>
                  <a:srgbClr val="2D3748"/>
                </a:solidFill>
                <a:latin typeface="Arial"/>
              </a:rPr>
              <a:t>Indic-TTS: Multilingual Text-to-Speech Synthesis System for Indian Languages (IIT Madras) &amp; Coqui Open-Source Deep Learning TTS.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Linguistic Datasets: </a:t>
            </a:r>
            <a:r>
              <a:rPr sz="1200" b="0">
                <a:solidFill>
                  <a:srgbClr val="2D3748"/>
                </a:solidFill>
                <a:latin typeface="Arial"/>
              </a:rPr>
              <a:t>Bhashini (National Language Translation Mission, MeitY) &amp; AI4Bharat Open Linguistic Corpora for Indian &amp; Tribal Languages.</a:t>
            </a:r>
          </a:p>
          <a:p>
            <a:pPr marL="635000" indent="-203200">
              <a:lnSpc>
                <a:spcPct val="1120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sz="1200" b="1">
                <a:solidFill>
                  <a:srgbClr val="5A6A85"/>
                </a:solidFill>
                <a:latin typeface="Arial"/>
              </a:rPr>
              <a:t>–  </a:t>
            </a:r>
            <a:r>
              <a:rPr sz="1200" b="1">
                <a:solidFill>
                  <a:srgbClr val="1A252C"/>
                </a:solidFill>
                <a:latin typeface="Arial"/>
              </a:rPr>
              <a:t>Policy Framework: </a:t>
            </a:r>
            <a:r>
              <a:rPr sz="1200" b="0">
                <a:solidFill>
                  <a:srgbClr val="2D3748"/>
                </a:solidFill>
                <a:latin typeface="Arial"/>
              </a:rPr>
              <a:t>National Education Policy (NEP) 2020, Ministry of Education, Govt. of India — Guidelines on Multilingual &amp; Mother-Tongue Pedagogy.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