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0000" y="2000000"/>
            <a:ext cx="6200000" cy="46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•  </a:t>
            </a:r>
            <a:r>
              <a:rPr sz="1700" b="1">
                <a:solidFill>
                  <a:srgbClr val="000000"/>
                </a:solidFill>
                <a:latin typeface="Arial"/>
              </a:rPr>
              <a:t>Problem Statement ID –</a:t>
            </a:r>
            <a:r>
              <a:rPr sz="1600" b="1">
                <a:solidFill>
                  <a:srgbClr val="1F497D"/>
                </a:solidFill>
                <a:latin typeface="Arial"/>
              </a:rPr>
              <a:t> SIH26042 / 042</a:t>
            </a:r>
            <a:endParaRPr lang="en-US" dirty="0"/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•  </a:t>
            </a:r>
            <a:r>
              <a:rPr sz="1700" b="1">
                <a:solidFill>
                  <a:srgbClr val="000000"/>
                </a:solidFill>
                <a:latin typeface="Arial"/>
              </a:rPr>
              <a:t>Problem Statement Title –</a:t>
            </a:r>
            <a:r>
              <a:rPr sz="1600" b="0">
                <a:solidFill>
                  <a:srgbClr val="212529"/>
                </a:solidFill>
                <a:latin typeface="Arial"/>
              </a:rPr>
              <a:t> AI-Powered Vernacular Pedagogy and Real-Time Translation Tool for Mother Tongue-Based Primary Education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•  </a:t>
            </a:r>
            <a:r>
              <a:rPr sz="1700" b="1">
                <a:solidFill>
                  <a:srgbClr val="000000"/>
                </a:solidFill>
                <a:latin typeface="Arial"/>
              </a:rPr>
              <a:t>Theme –</a:t>
            </a:r>
            <a:r>
              <a:rPr sz="1600" b="0">
                <a:solidFill>
                  <a:srgbClr val="212529"/>
                </a:solidFill>
                <a:latin typeface="Arial"/>
              </a:rPr>
              <a:t> Education / EdTech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•  </a:t>
            </a:r>
            <a:r>
              <a:rPr sz="1700" b="1">
                <a:solidFill>
                  <a:srgbClr val="000000"/>
                </a:solidFill>
                <a:latin typeface="Arial"/>
              </a:rPr>
              <a:t>PS Category –</a:t>
            </a:r>
            <a:r>
              <a:rPr sz="1600" b="0">
                <a:solidFill>
                  <a:srgbClr val="212529"/>
                </a:solidFill>
                <a:latin typeface="Arial"/>
              </a:rPr>
              <a:t> Software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•  </a:t>
            </a:r>
            <a:r>
              <a:rPr sz="1700" b="1">
                <a:solidFill>
                  <a:srgbClr val="000000"/>
                </a:solidFill>
                <a:latin typeface="Arial"/>
              </a:rPr>
              <a:t>Team ID –</a:t>
            </a:r>
            <a:r>
              <a:rPr sz="1600" b="1">
                <a:solidFill>
                  <a:srgbClr val="C00000"/>
                </a:solidFill>
                <a:latin typeface="Arial"/>
              </a:rPr>
              <a:t> [ENTER YOUR OFFICIAL SIH TEAM ID]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1F497D"/>
                </a:solidFill>
                <a:latin typeface="Arial"/>
              </a:rPr>
              <a:t>•  </a:t>
            </a:r>
            <a:r>
              <a:rPr sz="1700" b="1">
                <a:solidFill>
                  <a:srgbClr val="000000"/>
                </a:solidFill>
                <a:latin typeface="Arial"/>
              </a:rPr>
              <a:t>Team Name (Registered on portal) –</a:t>
            </a:r>
            <a:r>
              <a:rPr sz="1600" b="1">
                <a:solidFill>
                  <a:srgbClr val="1F497D"/>
                </a:solidFill>
                <a:latin typeface="Arial"/>
              </a:rPr>
              <a:t> Team Bytes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3200" b="1">
                <a:solidFill>
                  <a:srgbClr val="1A252C"/>
                </a:solidFill>
                <a:latin typeface="Times New Roman"/>
              </a:rPr>
              <a:t>IDEA TITLE: VERNACULAR VOICE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00000" y="1350000"/>
            <a:ext cx="11392000" cy="48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sz="2000" b="1" u="sng">
                <a:solidFill>
                  <a:srgbClr val="1F497D"/>
                </a:solidFill>
                <a:latin typeface="Arial"/>
              </a:rPr>
              <a:t>❖  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50" b="1">
                <a:solidFill>
                  <a:srgbClr val="1A365D"/>
                </a:solidFill>
                <a:latin typeface="Arial"/>
              </a:rPr>
              <a:t>•  Detailed Explanation of the Proposed Solution</a:t>
            </a:r>
          </a:p>
          <a:p>
            <a:pPr lvl="1">
              <a:lnSpc>
                <a:spcPct val="112000"/>
              </a:lnSpc>
              <a:spcBef>
                <a:spcPts val="150"/>
              </a:spcBef>
              <a:spcAft>
                <a:spcPts val="200"/>
              </a:spcAft>
            </a:pPr>
            <a:r>
              <a:rPr sz="1350">
                <a:solidFill>
                  <a:srgbClr val="4A5568"/>
                </a:solidFill>
                <a:latin typeface="Arial"/>
              </a:rPr>
              <a:t>    –  </a:t>
            </a:r>
            <a:r>
              <a:rPr sz="1350" b="1">
                <a:solidFill>
                  <a:srgbClr val="2D3748"/>
                </a:solidFill>
                <a:latin typeface="Arial"/>
              </a:rPr>
              <a:t>Platform Overview: </a:t>
            </a:r>
            <a:r>
              <a:rPr sz="1350" b="0">
                <a:solidFill>
                  <a:srgbClr val="2D3748"/>
                </a:solidFill>
                <a:latin typeface="Arial"/>
              </a:rPr>
              <a:t>AI-powered mobile/web platform translating primary educational content into tribal &amp; regional mother tongues in real time.</a:t>
            </a:r>
          </a:p>
          <a:p>
            <a:pPr lvl="1">
              <a:lnSpc>
                <a:spcPct val="112000"/>
              </a:lnSpc>
              <a:spcBef>
                <a:spcPts val="150"/>
              </a:spcBef>
              <a:spcAft>
                <a:spcPts val="200"/>
              </a:spcAft>
            </a:pPr>
            <a:r>
              <a:rPr sz="1350">
                <a:solidFill>
                  <a:srgbClr val="4A5568"/>
                </a:solidFill>
                <a:latin typeface="Arial"/>
              </a:rPr>
              <a:t>    –  </a:t>
            </a:r>
            <a:r>
              <a:rPr sz="1350" b="1">
                <a:solidFill>
                  <a:srgbClr val="2D3748"/>
                </a:solidFill>
                <a:latin typeface="Arial"/>
              </a:rPr>
              <a:t>Multimodal Core: </a:t>
            </a:r>
            <a:r>
              <a:rPr sz="1350" b="0">
                <a:solidFill>
                  <a:srgbClr val="2D3748"/>
                </a:solidFill>
                <a:latin typeface="Arial"/>
              </a:rPr>
              <a:t>Combines speech-to-text (STT), text-to-speech (TTS), and neural machine translation (NMT) for two-way native interaction.</a:t>
            </a:r>
          </a:p>
          <a:p>
            <a:pPr lvl="1">
              <a:lnSpc>
                <a:spcPct val="112000"/>
              </a:lnSpc>
              <a:spcBef>
                <a:spcPts val="150"/>
              </a:spcBef>
              <a:spcAft>
                <a:spcPts val="200"/>
              </a:spcAft>
            </a:pPr>
            <a:r>
              <a:rPr sz="1350">
                <a:solidFill>
                  <a:srgbClr val="4A5568"/>
                </a:solidFill>
                <a:latin typeface="Arial"/>
              </a:rPr>
              <a:t>    –  </a:t>
            </a:r>
            <a:r>
              <a:rPr sz="1350" b="1">
                <a:solidFill>
                  <a:srgbClr val="2D3748"/>
                </a:solidFill>
                <a:latin typeface="Arial"/>
              </a:rPr>
              <a:t>Offline Pedagogic Flow: </a:t>
            </a:r>
            <a:r>
              <a:rPr sz="1350" b="0">
                <a:solidFill>
                  <a:srgbClr val="2D3748"/>
                </a:solidFill>
                <a:latin typeface="Arial"/>
              </a:rPr>
              <a:t>Generates bilingual teaching materials (synchronized text + audio) with offline-first caching for zero-connectivity classrooms.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50" b="1">
                <a:solidFill>
                  <a:srgbClr val="1A365D"/>
                </a:solidFill>
                <a:latin typeface="Arial"/>
              </a:rPr>
              <a:t>•  How It Addresses the Problem</a:t>
            </a:r>
          </a:p>
          <a:p>
            <a:pPr lvl="1">
              <a:lnSpc>
                <a:spcPct val="112000"/>
              </a:lnSpc>
              <a:spcBef>
                <a:spcPts val="150"/>
              </a:spcBef>
              <a:spcAft>
                <a:spcPts val="200"/>
              </a:spcAft>
            </a:pPr>
            <a:r>
              <a:rPr sz="1350">
                <a:solidFill>
                  <a:srgbClr val="4A5568"/>
                </a:solidFill>
                <a:latin typeface="Arial"/>
              </a:rPr>
              <a:t>    –  </a:t>
            </a:r>
            <a:r>
              <a:rPr sz="1350" b="1">
                <a:solidFill>
                  <a:srgbClr val="2D3748"/>
                </a:solidFill>
                <a:latin typeface="Arial"/>
              </a:rPr>
              <a:t>Bridging Curriculum Gap: </a:t>
            </a:r>
            <a:r>
              <a:rPr sz="1350" b="0">
                <a:solidFill>
                  <a:srgbClr val="2D3748"/>
                </a:solidFill>
                <a:latin typeface="Arial"/>
              </a:rPr>
              <a:t>Eliminates learning gaps between standardized state curricula and mother-tongue primary students, directly supporting NEP 2020.</a:t>
            </a:r>
          </a:p>
          <a:p>
            <a:pPr lvl="1">
              <a:lnSpc>
                <a:spcPct val="112000"/>
              </a:lnSpc>
              <a:spcBef>
                <a:spcPts val="150"/>
              </a:spcBef>
              <a:spcAft>
                <a:spcPts val="200"/>
              </a:spcAft>
            </a:pPr>
            <a:r>
              <a:rPr sz="1350">
                <a:solidFill>
                  <a:srgbClr val="4A5568"/>
                </a:solidFill>
                <a:latin typeface="Arial"/>
              </a:rPr>
              <a:t>    –  </a:t>
            </a:r>
            <a:r>
              <a:rPr sz="1350" b="1">
                <a:solidFill>
                  <a:srgbClr val="2D3748"/>
                </a:solidFill>
                <a:latin typeface="Arial"/>
              </a:rPr>
              <a:t>Teacher Empowerment: </a:t>
            </a:r>
            <a:r>
              <a:rPr sz="1350" b="0">
                <a:solidFill>
                  <a:srgbClr val="2D3748"/>
                </a:solidFill>
                <a:latin typeface="Arial"/>
              </a:rPr>
              <a:t>Provides educators with instant automated localization tools, removing dependency on scarce tribal-language human translators.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550" b="1">
                <a:solidFill>
                  <a:srgbClr val="1A365D"/>
                </a:solidFill>
                <a:latin typeface="Arial"/>
              </a:rPr>
              <a:t>•  Innovation and Uniqueness of the Solution</a:t>
            </a:r>
          </a:p>
          <a:p>
            <a:pPr lvl="1">
              <a:lnSpc>
                <a:spcPct val="112000"/>
              </a:lnSpc>
              <a:spcBef>
                <a:spcPts val="150"/>
              </a:spcBef>
              <a:spcAft>
                <a:spcPts val="200"/>
              </a:spcAft>
            </a:pPr>
            <a:r>
              <a:rPr sz="1350">
                <a:solidFill>
                  <a:srgbClr val="4A5568"/>
                </a:solidFill>
                <a:latin typeface="Arial"/>
              </a:rPr>
              <a:t>    –  </a:t>
            </a:r>
            <a:r>
              <a:rPr sz="1350" b="1">
                <a:solidFill>
                  <a:srgbClr val="2D3748"/>
                </a:solidFill>
                <a:latin typeface="Arial"/>
              </a:rPr>
              <a:t>Modular Language Plugins: </a:t>
            </a:r>
            <a:r>
              <a:rPr sz="1350" b="0">
                <a:solidFill>
                  <a:srgbClr val="2D3748"/>
                </a:solidFill>
                <a:latin typeface="Arial"/>
              </a:rPr>
              <a:t>Modular plug-and-play language architecture allows rapid addition of new tribal/regional dialects without modifying core engine.</a:t>
            </a:r>
          </a:p>
          <a:p>
            <a:pPr lvl="1">
              <a:lnSpc>
                <a:spcPct val="112000"/>
              </a:lnSpc>
              <a:spcBef>
                <a:spcPts val="150"/>
              </a:spcBef>
              <a:spcAft>
                <a:spcPts val="200"/>
              </a:spcAft>
            </a:pPr>
            <a:r>
              <a:rPr sz="1350">
                <a:solidFill>
                  <a:srgbClr val="4A5568"/>
                </a:solidFill>
                <a:latin typeface="Arial"/>
              </a:rPr>
              <a:t>    –  </a:t>
            </a:r>
            <a:r>
              <a:rPr sz="1350" b="1">
                <a:solidFill>
                  <a:srgbClr val="2D3748"/>
                </a:solidFill>
                <a:latin typeface="Arial"/>
              </a:rPr>
              <a:t>Edge-Optimized Inference: </a:t>
            </a:r>
            <a:r>
              <a:rPr sz="1350" b="0">
                <a:solidFill>
                  <a:srgbClr val="2D3748"/>
                </a:solidFill>
                <a:latin typeface="Arial"/>
              </a:rPr>
              <a:t>Quantized offline on-device AI inference engineered specifically for ultra-low-cost Android devices, unlike cloud-bound tools.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Team</a:t>
            </a:r>
            <a:endParaRPr lang="en-IN" dirty="0"/>
          </a:p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Bytes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Team</a:t>
            </a:r>
            <a:endParaRPr lang="en-IN" dirty="0"/>
          </a:p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Bytes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Team</a:t>
            </a:r>
            <a:endParaRPr lang="en-IN" dirty="0"/>
          </a:p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Bytes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Team</a:t>
            </a:r>
            <a:endParaRPr lang="en-IN" dirty="0"/>
          </a:p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Bytes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Team</a:t>
            </a:r>
            <a:endParaRPr lang="en-IN" dirty="0"/>
          </a:p>
          <a:p>
            <a:pPr algn="ctr"/>
            <a:r>
              <a:rPr sz="1700" b="1">
                <a:solidFill>
                  <a:srgbClr val="1F497D"/>
                </a:solidFill>
                <a:latin typeface="Calibri"/>
              </a:rPr>
              <a:t>Bytes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